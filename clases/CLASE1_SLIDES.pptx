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>
        <p:scale>
          <a:sx n="125" d="100"/>
          <a:sy n="125" d="100"/>
        </p:scale>
        <p:origin x="126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A34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4A5A3A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6B7D5A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Decodificá tu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4000"/>
              <a:buFont typeface="Georgia"/>
              <a:buNone/>
            </a:pPr>
            <a:r>
              <a:rPr lang="en-US" sz="40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respiración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Clase 1 — Descubrí cómo respirás y entendé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qué le hace a tu cuerpo y tu mente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548640" y="3657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Flor Brea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48640" y="109728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Health Coach · Instructora de Respiración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Especialista en regulación del sistema nervioso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201168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Trabajo con personas que viven en estrés crónico, ansiedad o desconexión interna, ayudándolas a usar la respiración como herramienta de regulación.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8FA474">
              <a:alpha val="60000"/>
            </a:srgbClr>
          </a:solidFill>
          <a:ln w="25400" cap="flat" cmpd="sng">
            <a:solidFill>
              <a:srgbClr val="4A5A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400800" y="201168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5A3A"/>
                </a:solidFill>
                <a:latin typeface="Calibri"/>
                <a:ea typeface="Calibri"/>
                <a:cs typeface="Calibri"/>
                <a:sym typeface="Calibri"/>
              </a:rPr>
              <a:t>Tu foto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5A3A"/>
                </a:solidFill>
                <a:latin typeface="Calibri"/>
                <a:ea typeface="Calibri"/>
                <a:cs typeface="Calibri"/>
                <a:sym typeface="Calibri"/>
              </a:rPr>
              <a:t>acá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2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71D710-68C1-AC7A-C915-A9C5441AFB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8" t="14109" r="6812" b="980"/>
          <a:stretch>
            <a:fillRect/>
          </a:stretch>
        </p:blipFill>
        <p:spPr>
          <a:xfrm>
            <a:off x="5969691" y="1371601"/>
            <a:ext cx="2778070" cy="28122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Mapa del taller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57200" y="1097280"/>
            <a:ext cx="38404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CLASE 1 — HOY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40080" y="164592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Diagnóstico personal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4 tests para medir tu respiración</a:t>
            </a:r>
            <a:endParaRPr sz="12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Dimensión psicofisiológica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Corazón, nervio vago, cerebro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846320" y="1097280"/>
            <a:ext cx="38404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solidFill>
            <a:srgbClr val="6B7D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CLASE 2 — PRÓXIMA SEMANA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029200" y="1645920"/>
            <a:ext cx="34747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Dimensión bioquímica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O2, CO2, efecto Bohr, pH</a:t>
            </a:r>
            <a:endParaRPr sz="12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Dimensión biomecánica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Diafragma, PIA, core, postura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600"/>
              <a:buFont typeface="Georgia"/>
              <a:buNone/>
            </a:pPr>
            <a:r>
              <a:rPr lang="en-US" sz="16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Observar  →  Comprender  →  Intervenir  →  Integrar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3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5A3A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FA4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¿Por qué mirar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la respiración?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4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3 razones para prestar atención a tu respiración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1417320" y="1280160"/>
            <a:ext cx="731520" cy="73152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1417320" y="12801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Es un reflejo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640080" y="265176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Tu respiración es un espejo de tu estado interno. </a:t>
            </a:r>
            <a:endParaRPr sz="12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endParaRPr sz="12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Estrés → rápida, bucal. </a:t>
            </a:r>
            <a:endParaRPr sz="12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Calma → lenta, nasal.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3337560" y="109728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4297680" y="1280160"/>
            <a:ext cx="731520" cy="73152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4297680" y="12801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520440" y="21945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Es controlable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3491512" y="2651750"/>
            <a:ext cx="23148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Única función automática Y voluntaria. </a:t>
            </a:r>
            <a:endParaRPr sz="12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endParaRPr sz="12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Puente entre lo consciente y lo subconsciente. </a:t>
            </a:r>
            <a:endParaRPr sz="12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Disponible 24h.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217920" y="1097280"/>
            <a:ext cx="265176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7178040" y="1280160"/>
            <a:ext cx="731520" cy="73152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7178040" y="12801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6400800" y="21945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Es entrenable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6400800" y="265176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es un parche momentáneo: es un cambio estructural. </a:t>
            </a:r>
            <a:endParaRPr sz="12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endParaRPr sz="12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Mejora tolerancia al estrés, oxigenación y foco.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5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Respiración funcional vs. disfuncional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✓ Funcional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640080" y="1706320"/>
            <a:ext cx="34746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Nasal (siempre que sea posible)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Diafragmática (movimiento abajo)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Lenta: ~6 resp/min, ~6 L de aire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Rítmica, silenciosa, sin esfuerzo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Pausa suave al final de la exhalación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La respiración sana es la que no se nota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502920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✗ Disfuncional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5029200" y="1706325"/>
            <a:ext cx="3474600" cy="26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Bucal o mixta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Pectoral (parte superior)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Rápida: 12-30 resp/min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Irregular, ruidosa, con esfuerzo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Sin pausa, suspiros frecuentes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"Normal" estadístico ≠ óptimo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6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548640" y="425195"/>
            <a:ext cx="8046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La nariz y la lengua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548640" y="1417315"/>
            <a:ext cx="8046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La nariz filtra, calienta, humedece e impone resistencia al flujo aéreo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Esa resistencia permite que el aire llegue más profundo a los pulmones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Lengua: apoyada en el paladar, 3/4 arriba, boca cerrada sin apretar dientes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Respiración bucal → postura de tijera: cabeza adelante, rostro alargado, mandíbula retraída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Nuestros antepasados no sufrían apneas ni ronquidos: el cambio fue ambiental, no genético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7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Síntomas de hiperventilación crónica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57200" y="960120"/>
            <a:ext cx="1645920" cy="43891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0"/>
          <p:cNvSpPr/>
          <p:nvPr/>
        </p:nvSpPr>
        <p:spPr>
          <a:xfrm>
            <a:off x="457200" y="960120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Generales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6000" y="960120"/>
            <a:ext cx="6400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Fatiga, falta de concentración, mala calidad del sueño, alergias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457200" y="1527048"/>
            <a:ext cx="1645920" cy="43891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457200" y="1527048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Respiratorios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2286000" y="1527048"/>
            <a:ext cx="6400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Falta de aire, opresión en el pecho, suspiros, bostezos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457200" y="2093976"/>
            <a:ext cx="1645920" cy="43891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457200" y="2093976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Cardiovasculares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2286000" y="2093976"/>
            <a:ext cx="6400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Palpitaciones, manos y pies fríos, dolor en el pecho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457200" y="2660904"/>
            <a:ext cx="1645920" cy="43891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457200" y="2660904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Musculares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2286000" y="2660904"/>
            <a:ext cx="6400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Calambres, rigidez, debilidad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457200" y="3227832"/>
            <a:ext cx="1645920" cy="43891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457200" y="3227832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Digestivos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2286000" y="3227832"/>
            <a:ext cx="6400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Acidez, hinchazón, dificultad al tragar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457200" y="3794760"/>
            <a:ext cx="1645920" cy="43891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457200" y="3794760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Neurológicos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2286000" y="3794760"/>
            <a:ext cx="6400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Mareos, migraña, hormigueo en manos y cara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457200" y="4361688"/>
            <a:ext cx="1645920" cy="43891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457200" y="4361688"/>
            <a:ext cx="1645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Psicológicos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2286000" y="4361688"/>
            <a:ext cx="6400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Ansiedad, tensión, ataques de pánico, fobias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8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5A3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FA4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1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Diagnóstico personal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4 tests para medir tu respiración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9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Test 1: Frecuencia respiratoria en reposo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640080" y="1280160"/>
            <a:ext cx="466344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Qué mide: </a:t>
            </a: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cuántas respiraciones hacés en 1 minuto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Procedimiento:</a:t>
            </a:r>
            <a:endParaRPr sz="1300" b="1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endParaRPr sz="1300" b="1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Sin modificar nada, contá tus respiraciones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 inhalación + 1 exhalación = 1 respiración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Cronómetro: 1 minuto completo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5760720" y="1097280"/>
            <a:ext cx="2926080" cy="320040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2"/>
          <p:cNvSpPr/>
          <p:nvPr/>
        </p:nvSpPr>
        <p:spPr>
          <a:xfrm>
            <a:off x="5760720" y="128016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Referencia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5760720" y="1828800"/>
            <a:ext cx="292608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~6/min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12-30/min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promedio real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&gt;10 = información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10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Test 2: BOLT (Body Oxygen Level Test)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640080" y="1188720"/>
            <a:ext cx="466344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Mide: </a:t>
            </a: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quimiosensibilidad al CO2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(NO capacidad pulmonar ni fitness)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Procedimiento:</a:t>
            </a:r>
            <a:endParaRPr sz="1300" b="1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endParaRPr sz="1300" b="1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Inhalación normal → Exhalación normal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Taparse la nariz + cronómetro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Retener hasta PRIMERA señal del cuerpo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es cuánto podés aguantar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5760720" y="1097280"/>
            <a:ext cx="2926080" cy="347472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5760720" y="12801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Escala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5760720" y="1737360"/>
            <a:ext cx="292608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&lt; 20 seg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Alta sensibilidad al CO2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20 - 30 seg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Rango promedio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&gt; 30 seg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Buena tolerancia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&gt; 40 seg = ideal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11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4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Tests 3 y 4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4"/>
          <p:cNvSpPr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Máxima Retención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640080" y="164592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Mide el límite más alto de tolerancia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Inhalación → exhalación → retener al MÁXIMO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Contracciones del diafragma son normales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Brecha BOLT vs Máxima = margen de entrenamiento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502920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Tolerancia al CO2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5029200" y="164592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Origen: freediving / buceo en apnea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 respiraciones → inhalación completa 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exhalar lo más lento posible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&lt;20s = baja | 25-45s = moderada | &gt;50s = alta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 tiene relación con fitness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12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A34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A5A3A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1015075" y="1371600"/>
            <a:ext cx="73152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Georgia"/>
              <a:buNone/>
            </a:pPr>
            <a:r>
              <a:rPr lang="en-US" sz="2200" b="0" i="1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"Tu respiración cambia según la emoción.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Georgia"/>
              <a:buNone/>
            </a:pPr>
            <a:r>
              <a:rPr lang="en-US" sz="2200" b="0" i="1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No respiramos igual cuando estamos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200"/>
              <a:buFont typeface="Georgia"/>
              <a:buNone/>
            </a:pPr>
            <a:r>
              <a:rPr lang="en-US" sz="2200" b="0" i="1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angustiados, felices o enojados."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13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47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8FA474"/>
                </a:solidFill>
                <a:latin typeface="Calibri"/>
                <a:ea typeface="Calibri"/>
                <a:cs typeface="Calibri"/>
                <a:sym typeface="Calibri"/>
              </a:rPr>
              <a:t>— Pausa 10 minutos —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5A3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FA4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6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Dimensión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3400"/>
              <a:buFont typeface="Georgia"/>
              <a:buNone/>
            </a:pPr>
            <a:r>
              <a:rPr lang="en-US" sz="34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psicofisiológica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14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El corazón sigue a la respiración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A5A3A"/>
                </a:solidFill>
                <a:latin typeface="Calibri"/>
                <a:ea typeface="Calibri"/>
                <a:cs typeface="Calibri"/>
                <a:sym typeface="Calibri"/>
              </a:rPr>
              <a:t>INHALACIÓN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640080" y="155448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Diafragma baja → más espacio torácico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sangre más lenta → SN acelera ritmo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↑ Frecuencia cardíaca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A5A3A"/>
                </a:solidFill>
                <a:latin typeface="Calibri"/>
                <a:ea typeface="Calibri"/>
                <a:cs typeface="Calibri"/>
                <a:sym typeface="Calibri"/>
              </a:rPr>
              <a:t>EXHALACIÓN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4937760" y="155448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Diafragma sube → todo se compacta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sangre se acelera → SN baja ritmo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→ ↓ Frecuencia cardíaca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FA47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FA474"/>
                </a:solidFill>
                <a:latin typeface="Calibri"/>
                <a:ea typeface="Calibri"/>
                <a:cs typeface="Calibri"/>
                <a:sym typeface="Calibri"/>
              </a:rPr>
              <a:t>HERRAMIENTA PRÁCTICA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914400" y="356615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Querés ACTIVARTE → foco en inhalación más larga e intensa</a:t>
            </a:r>
            <a:endParaRPr sz="1400" b="0" i="0" u="none" strike="noStrike" cap="none">
              <a:solidFill>
                <a:srgbClr val="F0EB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Calibri"/>
              <a:buNone/>
            </a:pPr>
            <a:endParaRPr>
              <a:solidFill>
                <a:srgbClr val="F0EB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Querés CALMARTE → foco en exhalación más larga y profunda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15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Variabilidad de la Frecuencia Cardíaca (VFC)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El intervalo entre latidos NO es fijo — varía constantemente</a:t>
            </a:r>
            <a:endParaRPr sz="14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Esa variación = VFC, controlada por el Sistema Nervioso Autónom</a:t>
            </a:r>
            <a:r>
              <a:rPr lang="en-US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VFC baja: una rama domina → sistema desequilibrado → riesgo</a:t>
            </a:r>
            <a:endParaRPr sz="14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VFC alta: sistema equilibrado, puede adaptarse = resiliencia</a:t>
            </a:r>
            <a:endParaRPr sz="14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Resiliencia es un proceso fisiológico, no una actitud mental</a:t>
            </a:r>
            <a:endParaRPr sz="14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Estrés crónico → inflamación sostenida → problemas cardíacos, digestivos, inmunológicos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16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Sistema Nervioso Autónomo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Simpático — Lucha o huida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40080" y="164592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Adrenalina, cortisol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Vasoconstricción, ↑ ritmo cardíaco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 activa con amenazas reales Y percibidas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Mail del jefe = misma respuesta fisiológica que un peligro real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5029200" y="1188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Parasimpático — Restauración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5029200" y="164592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Acetilcolina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Vasodilatación, ↓ ritmo cardíaco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Promueve digestión y reparación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El modo en que el cuerpo se recarga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17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El nervio vago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548640" y="9144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10° par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craneal</a:t>
            </a: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el</a:t>
            </a: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más</a:t>
            </a: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extenso del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cuerpo</a:t>
            </a:r>
            <a:endParaRPr lang="en-US" sz="1400" b="0" i="0" u="none" strike="noStrike" cap="none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Recorrido</a:t>
            </a: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cerebro</a:t>
            </a: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cuello</a:t>
            </a: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corazón</a:t>
            </a: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pulmones</a:t>
            </a: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digestivo</a:t>
            </a: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vísceras</a:t>
            </a:r>
            <a:endParaRPr lang="en-US" sz="1400" b="0" i="0" u="none" strike="noStrike" cap="none" dirty="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Regula: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respiración</a:t>
            </a: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, FC,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digestión</a:t>
            </a: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deglución</a:t>
            </a:r>
            <a:r>
              <a:rPr lang="en-US" sz="1400" b="0" i="0" u="none" strike="noStrike" cap="none" dirty="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0" i="0" u="none" strike="noStrike" cap="none" dirty="0" err="1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habla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1828800" y="2560320"/>
            <a:ext cx="5486400" cy="201168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1828800" y="265176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5200"/>
              <a:buFont typeface="Georgia"/>
              <a:buNone/>
            </a:pPr>
            <a:r>
              <a:rPr lang="en-US" sz="52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80%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2103120" y="36576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de sus fibras son AFERENTES (cuerpo → cerebro)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El cuerpo le habla al cerebro más de lo que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el cerebro le habla al cuerpo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18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Cómo estimular el nervio vago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457200" y="118872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1051560" y="1371600"/>
            <a:ext cx="731520" cy="73152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1051560" y="1371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548640" y="228600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Respiración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consciente y lenta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548640" y="320040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(la más potente)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2651760" y="118872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3246120" y="1371600"/>
            <a:ext cx="731520" cy="731520"/>
          </a:xfrm>
          <a:prstGeom prst="ellipse">
            <a:avLst/>
          </a:prstGeom>
          <a:solidFill>
            <a:srgbClr val="6B7D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3246120" y="1371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2743200" y="228600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Hacer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gárgaras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2743200" y="320040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estimula deglución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4846320" y="118872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5440680" y="1371600"/>
            <a:ext cx="731520" cy="731520"/>
          </a:xfrm>
          <a:prstGeom prst="ellipse">
            <a:avLst/>
          </a:prstGeom>
          <a:solidFill>
            <a:srgbClr val="6B7D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5440680" y="1371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4937760" y="228600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Agua fría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en la cara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937760" y="320040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reflejo de inmersión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7040880" y="118872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7635240" y="1371600"/>
            <a:ext cx="731520" cy="731520"/>
          </a:xfrm>
          <a:prstGeom prst="ellipse">
            <a:avLst/>
          </a:prstGeom>
          <a:solidFill>
            <a:srgbClr val="6B7D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7635240" y="13716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7132320" y="228600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Escuchar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música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7132320" y="320040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activa relajación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19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Coherencia psicofisiológica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Estrés/miedo → ritmos internos se desordenan → incoherencia</a:t>
            </a:r>
            <a:endParaRPr sz="14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 incoherencia: no podés pensar con claridad, energía desviada a restaurar equilibrio</a:t>
            </a:r>
            <a:endParaRPr sz="14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Respiración → equilibrio → coherencia psicofisiológica</a:t>
            </a:r>
            <a:endParaRPr sz="14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Recuperás acceso a corteza prefrontal, inteligencias, toma de decisiones</a:t>
            </a:r>
            <a:endParaRPr sz="14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La calma no elimina los nervios: permite tolerar sensaciones fuertes sin actuar en automático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20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3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El cerebro y la respiración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3"/>
          <p:cNvSpPr/>
          <p:nvPr/>
        </p:nvSpPr>
        <p:spPr>
          <a:xfrm>
            <a:off x="457200" y="118872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4200"/>
              <a:buFont typeface="Georgia"/>
              <a:buNone/>
            </a:pPr>
            <a:r>
              <a:rPr lang="en-US" sz="42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30-40%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457200" y="201168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menos oxígeno llega al cerebro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cuando hiperventilamos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4846320" y="1097280"/>
            <a:ext cx="38404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3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Journal of Physiology, 1988: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5029200" y="1554480"/>
            <a:ext cx="34747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1300"/>
              <a:buFont typeface="Georgia"/>
              <a:buNone/>
            </a:pPr>
            <a:r>
              <a:rPr lang="en-US" sz="1300" b="0" i="1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"El cerebro regulando la respiración controla su propia excitabilidad"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548640" y="320040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Hiperventilación → baja CO2 → hemoglobina no libera O2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Paradoja: cerebro hiper-excitable pero con menos oxígeno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Neuronas disparan desordenadamente → niebla mental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Ciclo: hiperventilás → ansiedad → hiperventilás más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21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200"/>
              <a:buFont typeface="Georgia"/>
              <a:buNone/>
            </a:pPr>
            <a:r>
              <a:rPr lang="en-US" sz="22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Inhalar por la nariz activa la memoria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4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Recordamos...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914400" y="15544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35%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914400" y="2103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 lo que olemos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3657600" y="15544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5%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3657600" y="2103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 lo que vemos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6400800" y="15544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A3A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4A5A3A"/>
                </a:solidFill>
                <a:latin typeface="Georgia"/>
                <a:ea typeface="Georgia"/>
                <a:cs typeface="Georgia"/>
                <a:sym typeface="Georgia"/>
              </a:rPr>
              <a:t>2%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6400800" y="2103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 lo que oímos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548640" y="292608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Inhalación nasal activa el hipocampo (memoria y aprendizaje)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 tarda 10 años en olvidar un olor vs. 3 años una imagen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Sistema olfatorio: el sentido más ancestral</a:t>
            </a:r>
            <a:endParaRPr sz="1300" b="0" i="0" u="none" strike="noStrike" cap="none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2D2D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Char char="•"/>
            </a:pPr>
            <a:r>
              <a:rPr lang="en-US" sz="1300" b="1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Herramienta: intensificar inhalación nasal al estudiar o leer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22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A34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Práctica: Cadencia 4 – 6 – 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1097280" y="1188720"/>
            <a:ext cx="2011680" cy="201168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5"/>
          <p:cNvSpPr/>
          <p:nvPr/>
        </p:nvSpPr>
        <p:spPr>
          <a:xfrm>
            <a:off x="1097280" y="12801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4800"/>
              <a:buFont typeface="Georgia"/>
              <a:buNone/>
            </a:pPr>
            <a:r>
              <a:rPr lang="en-US" sz="48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1097280" y="237744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tiempos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INHALAR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3657600" y="1188720"/>
            <a:ext cx="2011680" cy="201168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3657600" y="12801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4800"/>
              <a:buFont typeface="Georgia"/>
              <a:buNone/>
            </a:pPr>
            <a:r>
              <a:rPr lang="en-US" sz="48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3657600" y="237744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tiempos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EXHALAR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6217920" y="1188720"/>
            <a:ext cx="2011680" cy="201168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5"/>
          <p:cNvSpPr/>
          <p:nvPr/>
        </p:nvSpPr>
        <p:spPr>
          <a:xfrm>
            <a:off x="6217920" y="12801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4800"/>
              <a:buFont typeface="Georgia"/>
              <a:buNone/>
            </a:pPr>
            <a:r>
              <a:rPr lang="en-US" sz="48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6217920" y="237744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segundo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PAUSA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914400" y="347472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Todo por la nariz, silencioso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Atención al diafragma — costillas expandiéndose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Exhalación más larga = activa nervio vago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Posición: espalda erguida, hombros relajados, mandíbula suelta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23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6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4A34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3D4A34"/>
                </a:solidFill>
                <a:latin typeface="Georgia"/>
                <a:ea typeface="Georgia"/>
                <a:cs typeface="Georgia"/>
                <a:sym typeface="Georgia"/>
              </a:rPr>
              <a:t>Tarea para la semana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640080" y="1097280"/>
            <a:ext cx="502920" cy="50292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6"/>
          <p:cNvSpPr/>
          <p:nvPr/>
        </p:nvSpPr>
        <p:spPr>
          <a:xfrm>
            <a:off x="640080" y="1097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1371600" y="10058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Repetir BOLT y Tolerancia CO2 al menos 2 veces. Anotar resultados.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1371600" y="19202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Practicar cadencia 4-6-1 mínimo 5 min/día (mañana o noche).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4A5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6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1371600" y="28346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OBSERVAR: ¿cómo respirás con el celular? ¿en reuniones? ¿al dormir? No cambiar nada, solo notar.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914400" y="4114800"/>
            <a:ext cx="7315200" cy="822960"/>
          </a:xfrm>
          <a:prstGeom prst="rect">
            <a:avLst/>
          </a:prstGeom>
          <a:solidFill>
            <a:srgbClr val="3D4A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6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500"/>
              <a:buFont typeface="Georgia"/>
              <a:buNone/>
            </a:pPr>
            <a:r>
              <a:rPr lang="en-US" sz="1500" b="0" i="1" u="none" strike="noStrike" cap="none">
                <a:solidFill>
                  <a:srgbClr val="F0EBE0"/>
                </a:solidFill>
                <a:latin typeface="Georgia"/>
                <a:ea typeface="Georgia"/>
                <a:cs typeface="Georgia"/>
                <a:sym typeface="Georgia"/>
              </a:rPr>
              <a:t>"Elegir cómo respirar es elegir cómo quiero vivir"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EBE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F0EBE0"/>
                </a:solidFill>
                <a:latin typeface="Calibri"/>
                <a:ea typeface="Calibri"/>
                <a:cs typeface="Calibri"/>
                <a:sym typeface="Calibri"/>
              </a:rPr>
              <a:t>Nos vemos el jueves que viene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D5A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D5A"/>
                </a:solidFill>
                <a:latin typeface="Calibri"/>
                <a:ea typeface="Calibri"/>
                <a:cs typeface="Calibri"/>
                <a:sym typeface="Calibri"/>
              </a:rPr>
              <a:t>24 / 24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1356</Words>
  <Application>Microsoft Macintosh PowerPoint</Application>
  <PresentationFormat>Presentación en pantalla (16:9)</PresentationFormat>
  <Paragraphs>325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2</cp:revision>
  <dcterms:modified xsi:type="dcterms:W3CDTF">2026-05-17T22:49:03Z</dcterms:modified>
</cp:coreProperties>
</file>