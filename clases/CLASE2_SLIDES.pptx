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A34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A5A3A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6B7D5A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Decodificá tu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respiración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Clase 2 — Entendé qué pasa adentro de tu cuerpo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cuando respirás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Las 3 dimensiones de la respiración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6B7D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CLASE 1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17373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Psicofisiológica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237744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SN, corazón, cerebro,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emociones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337560" y="109728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337560" y="1097280"/>
            <a:ext cx="2651760" cy="45720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337560" y="1097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520440" y="17373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Bioquímica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520440" y="237744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O2, CO2, pH,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óxido nítrico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217920" y="109728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0" y="17373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Biomecánica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0800" y="237744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Diafragma, core,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postura, PIA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A3A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FA4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Dimensión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bioquímica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3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El recorrido del oxígeno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365760" y="1097280"/>
            <a:ext cx="1280160" cy="54864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365760" y="10972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Nariz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645920" y="1097280"/>
            <a:ext cx="137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783080" y="1097280"/>
            <a:ext cx="1280160" cy="54864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1783080" y="10972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Tráquea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063240" y="1097280"/>
            <a:ext cx="137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200400" y="1097280"/>
            <a:ext cx="1280160" cy="54864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3200400" y="10972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Bronquios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480560" y="1097280"/>
            <a:ext cx="137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617720" y="1097280"/>
            <a:ext cx="1280160" cy="54864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4617720" y="10972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Alvéolos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897880" y="1097280"/>
            <a:ext cx="137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035040" y="1097280"/>
            <a:ext cx="1280160" cy="54864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6035040" y="10972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Sangre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7315200" y="1097280"/>
            <a:ext cx="137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7452360" y="1097280"/>
            <a:ext cx="1280160" cy="54864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7452360" y="10972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Hemoglobina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47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474"/>
                </a:solidFill>
                <a:latin typeface="Calibri"/>
                <a:ea typeface="Calibri"/>
                <a:cs typeface="Calibri"/>
                <a:sym typeface="Calibri"/>
              </a:rPr>
              <a:t>La idea más importante de esta clase: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Que el oxígeno esté en tu sangre</a:t>
            </a:r>
            <a:endParaRPr sz="2000" b="1">
              <a:solidFill>
                <a:srgbClr val="F0EBE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NO significa que llegue a tus células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365760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hemoglobina transporta O2 desde pulmones a células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 O2 puede viajar en la hemoglobina y NUNCA bajarse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¿Qué determina si se baja? El CO2 (efecto Bohr)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4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CO2: mucho más que un gas de desecho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48640" y="1051560"/>
            <a:ext cx="548640" cy="54864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548640" y="1051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280160" y="10058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Libera el O2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566160" y="100584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Determina si la hemoglobina suelta oxígeno a las células (efecto Bohr)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48640" y="1783080"/>
            <a:ext cx="8138160" cy="9144"/>
          </a:xfrm>
          <a:prstGeom prst="rect">
            <a:avLst/>
          </a:prstGeom>
          <a:solidFill>
            <a:srgbClr val="8FA474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548640" y="2057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280160" y="20116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Activa la respiración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566160" y="201168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respiramos porque falta O2. Respiramos porque se acumula CO2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48640" y="2788920"/>
            <a:ext cx="8138160" cy="9144"/>
          </a:xfrm>
          <a:prstGeom prst="rect">
            <a:avLst/>
          </a:prstGeom>
          <a:solidFill>
            <a:srgbClr val="8FA474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280160" y="30175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Regula el pH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566160" y="301752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Mantiene sangre entre 7.35-7.45. Hiperventilación → alcalosis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48640" y="3794760"/>
            <a:ext cx="8138160" cy="9144"/>
          </a:xfrm>
          <a:prstGeom prst="rect">
            <a:avLst/>
          </a:prstGeom>
          <a:solidFill>
            <a:srgbClr val="8FA474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280160" y="40233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Vasodilatador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566160" y="402336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Relaja arterias y vías respiratorias. Si baja → vasos se contraen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5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Efecto Bohr (1904)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El CO2 es la llave que abre la puerta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para que el oxígeno entre a las células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47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FA474"/>
                </a:solidFill>
                <a:latin typeface="Calibri"/>
                <a:ea typeface="Calibri"/>
                <a:cs typeface="Calibri"/>
                <a:sym typeface="Calibri"/>
              </a:rPr>
              <a:t>Sin llave, el oxígeno queda afuera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548640" y="283464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Mientras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bajo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CO2 → mayor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afinidad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hemoglobina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O2 → no lo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suelta</a:t>
            </a:r>
            <a:endParaRPr sz="1300" b="0" i="0" u="none" strike="noStrike" cap="none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Hiperventilación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+ boca +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respiración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rápida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= bajo CO2 =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pobre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oxigenación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celular</a:t>
            </a:r>
            <a:endParaRPr sz="1300" b="0" i="0" u="none" strike="noStrike" cap="none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Podés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respirar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24/7 y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así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tener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células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sin combustible</a:t>
            </a:r>
            <a:endParaRPr sz="1300" b="0" i="0" u="none" strike="noStrike" cap="none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BOLT bajo = CO2 bajo = </a:t>
            </a:r>
            <a:r>
              <a:rPr lang="en-US" sz="13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hemoglobina</a:t>
            </a:r>
            <a:r>
              <a:rPr lang="en-US" sz="13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US" sz="13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suelta</a:t>
            </a:r>
            <a:r>
              <a:rPr lang="en-US" sz="13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O2 </a:t>
            </a:r>
            <a:r>
              <a:rPr lang="en-US" sz="13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3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ya</a:t>
            </a:r>
            <a:r>
              <a:rPr lang="en-US" sz="13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tenés</a:t>
            </a:r>
            <a:endParaRPr sz="1300" b="1" i="0" u="none" strike="noStrike" cap="none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Respirar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nariz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durante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intenso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= CO2 alto =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mejor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distribución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de O2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6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Sensibilidad al CO2 y regulación del pH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Sensibilidad al CO2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40142" y="1874720"/>
            <a:ext cx="3474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Alta sensibilidad: mínimo CO2 → urgencia de respirar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Ciclo vicioso: sensible → respiro rápido → expulso CO2 → peor oxigenación → más rápido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Mayor tolerancia = respiración serena bajo estrés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Los tests BOLT midieron exactamente esto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sensibilidad SE PUEDE entrenar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pH sanguíneo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029200" y="1920245"/>
            <a:ext cx="3474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Rango vital: 7.35 - 7.45 (muy estrecho)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Hiperventilación → menos CO2 → pH sube (alcalosis)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Alcalosis: mareo, hormigueo, ansiedad, pánico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Pulmones corrigen en SEGUNDOS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hay pastilla que actúe tan rápido como una exhalación bien hecha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7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Óxido nítrico: el aliado nasal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5943600" y="1005840"/>
            <a:ext cx="2743200" cy="73152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5943600" y="10058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Molécula del año 1995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Revista Science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548640" y="1005840"/>
            <a:ext cx="512064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 produce en los senos paranasales (solo con respiración NASAL)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None/>
            </a:pPr>
            <a:endParaRPr b="1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Funciones:</a:t>
            </a:r>
            <a:endParaRPr sz="1400" b="1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None/>
            </a:pPr>
            <a:endParaRPr b="1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Abre las vías respiratorias (broncodilatador)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Redistribuye aire y sangre en los pulmones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Promueve absorción de O2 en sangre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Vasodilatador (como el CO2)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Antimicrobiano: primera línea de defensa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Respiración bucal = saltear el óxido nítrico por completo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5760720" y="2011680"/>
            <a:ext cx="29260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5760720" y="21031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Tip práctico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5943600" y="2468880"/>
            <a:ext cx="25603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Retener el aliento brevemente → ON se acumula en cavidad nasal → al inhalar baja en mayor concentración a los pulmones.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r>
              <a:rPr lang="en-US" sz="11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cargar una dosis extra.</a:t>
            </a:r>
            <a:endParaRPr sz="11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endParaRPr sz="11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tip: descongestionar nariz</a:t>
            </a:r>
            <a:endParaRPr sz="11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8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Práctica bioquímica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Calentamiento: Retenciones cortas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640080" y="1828795"/>
            <a:ext cx="3474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Inhalación nasal → exhalación → tapar nariz 5 seg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Soltar, 2 respiraciones normales, repetir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Duración: 3 minutos continuos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Falta de aire leve = CO2 subiendo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Recurso de emergencia: estrés, pánico, asma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Respiración sutil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5029200" y="1828795"/>
            <a:ext cx="3474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Reducir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volumen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aire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hasta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falta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aire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TOLERABLE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contener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ni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restringir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suavizar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Meta: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respirar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20%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menos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de lo habitual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aire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pasa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las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fosas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nasales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5-10 min/día.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Meditación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excelencia</a:t>
            </a:r>
            <a:endParaRPr lang="en-US" sz="1300" b="0" i="0" u="none" strike="noStrike" cap="none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endParaRPr lang="en-US" sz="130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empezar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a regular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voluntariamente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mi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respiración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9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A34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A5A3A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"/>
          <p:cNvSpPr/>
          <p:nvPr/>
        </p:nvSpPr>
        <p:spPr>
          <a:xfrm>
            <a:off x="914400" y="1122875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0" i="1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"Si la respiración no se normaliza,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0" i="1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ningún otro patrón de movimiento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0" i="1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podrá hacerlo."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10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47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8FA474"/>
                </a:solidFill>
                <a:latin typeface="Calibri"/>
                <a:ea typeface="Calibri"/>
                <a:cs typeface="Calibri"/>
                <a:sym typeface="Calibri"/>
              </a:rPr>
              <a:t>— Pausa 10 minutos 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A3A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FA4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Dimensión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biomecánica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11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El diafragma: músculo protagonista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57200" y="1097280"/>
            <a:ext cx="53035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14"/>
          <p:cNvSpPr/>
          <p:nvPr/>
        </p:nvSpPr>
        <p:spPr>
          <a:xfrm>
            <a:off x="640080" y="1188720"/>
            <a:ext cx="493776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 </a:t>
            </a:r>
            <a:r>
              <a:rPr lang="en-US" sz="13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inhalar</a:t>
            </a:r>
            <a:r>
              <a:rPr lang="en-US" sz="13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300" b="1" i="0" u="none" strike="noStrike" cap="none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endParaRPr sz="1300" b="1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contrae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→ baja →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aumenta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espacio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torácico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Genera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presión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intra-abdominal (PIA)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PIA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estabiliza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columna vertebral y pelvis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Controlado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nervio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frénico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(C3-C4-C5)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Origen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cuello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protección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evolutiva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 motor Y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sensitivo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(canal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ida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3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vuelta</a:t>
            </a:r>
            <a:r>
              <a:rPr lang="en-US" sz="13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5943600" y="1097280"/>
            <a:ext cx="2743200" cy="365760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5943600" y="1280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474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8FA474"/>
                </a:solidFill>
                <a:latin typeface="Georgia"/>
                <a:ea typeface="Georgia"/>
                <a:cs typeface="Georgia"/>
                <a:sym typeface="Georgia"/>
              </a:rPr>
              <a:t>Lo atraviesan: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6126480" y="1737360"/>
            <a:ext cx="23774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Esófago</a:t>
            </a:r>
            <a:endParaRPr sz="1400" b="1" i="0" u="none" strike="noStrike" cap="none">
              <a:solidFill>
                <a:srgbClr val="F0EB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None/>
            </a:pPr>
            <a:endParaRPr b="1">
              <a:solidFill>
                <a:srgbClr val="F0EB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→ Diafragma tenso puede causar hernia de hiato y reflujo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Nervio vago</a:t>
            </a:r>
            <a:endParaRPr sz="1400" b="1" i="0" u="none" strike="noStrike" cap="none">
              <a:solidFill>
                <a:srgbClr val="F0EB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None/>
            </a:pPr>
            <a:endParaRPr b="1">
              <a:solidFill>
                <a:srgbClr val="F0EB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→ Diafragma bloqueado impacta regulación del SN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12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Diafragma: MedlinePlus enciclopedia médica illustración">
            <a:extLst>
              <a:ext uri="{FF2B5EF4-FFF2-40B4-BE49-F238E27FC236}">
                <a16:creationId xmlns:a16="http://schemas.microsoft.com/office/drawing/2014/main" id="{45A94BCF-6FD0-E741-4482-BD8EC13C70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9" t="-3995" r="-5749" b="9555"/>
          <a:stretch>
            <a:fillRect/>
          </a:stretch>
        </p:blipFill>
        <p:spPr bwMode="auto">
          <a:xfrm>
            <a:off x="4170196" y="3399183"/>
            <a:ext cx="1590524" cy="135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1D6F012-33A9-0C18-6785-4B874D969236}"/>
              </a:ext>
            </a:extLst>
          </p:cNvPr>
          <p:cNvSpPr txBox="1"/>
          <p:nvPr/>
        </p:nvSpPr>
        <p:spPr>
          <a:xfrm>
            <a:off x="1683689" y="3553811"/>
            <a:ext cx="268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transversal bajo </a:t>
            </a:r>
            <a:r>
              <a:rPr lang="en-US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pulmones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s-A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Consecuencias de un diafragma disfuncional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457200" y="960120"/>
            <a:ext cx="2011680" cy="5303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457200" y="96012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Digestión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2651760" y="960120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Pierde función de bombeo intestinal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457200" y="1618488"/>
            <a:ext cx="2011680" cy="5303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457200" y="1618488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Hernia / Reflujo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2651760" y="1618488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Tensión sobre el esófago altera el hiato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457200" y="2276856"/>
            <a:ext cx="2011680" cy="5303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457200" y="2276856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Ansiedad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2651760" y="2276856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Retiene emociones, activa respiración torácica alta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457200" y="2935224"/>
            <a:ext cx="2011680" cy="5303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457200" y="2935224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Dolor de espalda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2651760" y="2935224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Compensaciones en zona lumbar, dorsal y cervical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457200" y="3593592"/>
            <a:ext cx="2011680" cy="5303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5"/>
          <p:cNvSpPr/>
          <p:nvPr/>
        </p:nvSpPr>
        <p:spPr>
          <a:xfrm>
            <a:off x="457200" y="3593592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Circulación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2651760" y="359359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Altera retorno venoso y linfático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457200" y="4251960"/>
            <a:ext cx="2011680" cy="5303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457200" y="425196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Corazón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2651760" y="4251960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Unido al diafragma vía pericardio; posición alterada lo afecta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13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El core: la caja completa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457200" y="1097280"/>
            <a:ext cx="1371600" cy="50292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457200" y="10972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TECHO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2011680" y="10972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Diafragma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457200" y="1828800"/>
            <a:ext cx="1371600" cy="50292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457200" y="18288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FRENTE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2011680" y="18288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Abdominales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457200" y="2560320"/>
            <a:ext cx="1371600" cy="50292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6"/>
          <p:cNvSpPr/>
          <p:nvPr/>
        </p:nvSpPr>
        <p:spPr>
          <a:xfrm>
            <a:off x="457200" y="25603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LATERAL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2011680" y="25603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Transverso + oblicuos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457200" y="3291840"/>
            <a:ext cx="1371600" cy="50292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457200" y="32918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ATRÁS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2011680" y="32918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Cuadrado lumbar, erectores, glúteos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457200" y="4023360"/>
            <a:ext cx="1371600" cy="50292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6"/>
          <p:cNvSpPr/>
          <p:nvPr/>
        </p:nvSpPr>
        <p:spPr>
          <a:xfrm>
            <a:off x="457200" y="40233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PISO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2011680" y="40233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Suelo pélvico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5303520" y="11887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47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FA474"/>
                </a:solidFill>
                <a:latin typeface="Calibri"/>
                <a:ea typeface="Calibri"/>
                <a:cs typeface="Calibri"/>
                <a:sym typeface="Calibri"/>
              </a:rPr>
              <a:t>Cadena causal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5486400" y="1645920"/>
            <a:ext cx="30175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Respiración disfuncional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Diafragma no se activa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Sin presión intra-abdominal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Columna inestable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Lesiones y lumbalgias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14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Respiración y rendimiento físico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Aeróbica (con O2)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640080" y="164592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16x más eficiente que anaeróbica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Combustión limpia, largo plazo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Desechos → agua (fácil de eliminar)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Como auto eléctrico: limpio, eficiente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Meta: permanecer en zona aeróbica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Anaeróbica (sin O2)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5029200" y="164592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Rápida pero tóxica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Genera ácido láctico → ardor, fatiga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Náuseas, debilidad, lesiones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Como auto de carrera: potente pero contamina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Solo para trayectos cortos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15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Tips para entrenamiento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Cuando el diafragma se agota → cuerpo desvía sangre de las piernas hacia músculos respiratorios → "me quedé sin piernas". No eran las piernas. Era el diafragma.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548640" y="246888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Entrenar respirando por la nariz. La nariz marca la intensidad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 necesitás abrir la boca = bajaste al anaeróbico → bajar intensidad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Boca durante ejercicio → pierdo CO2 → vasoconstricción → broncoconstricción → deshidratación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FC aeróbica máxima = 180 - tu edad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Dolor en costado derecho = nervio frénico + respiración desordenada (no es calambre)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16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Práctica biomecánica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Respiración diafragmática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640080" y="164592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es "respirar con la panza"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Sentir expansión LATERAL de costillas inferiores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Manos a cada lado, dedos adelante, pulgares atrás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Inhalar: costillas se abren empujando manos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También expansión hacia la espalda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Silenciosa: si la escuchás, más suave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Suspiro fisiológico cíclico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5029200" y="164592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Inhalación larga nasal + inhalación corta nasal + exhalación lenta bucal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Doble inhalación: abre alvéolos colapsados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Exhalación bucal larga: activa nervio vago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30 segundos baja nivel de activación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Útil: estrés agudo, ejercicio, crisis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17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Todo está conectado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Hiperventilación 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640080" y="137160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↓ CO2 → hemoglobina no suelta O2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pH se descontrola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cerebro hiper-excitado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simpático se activa → ansiedad ↑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diafragma se tensa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postura se altera → digestión se frena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4754880" y="100584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A5A3A"/>
                </a:solidFill>
                <a:latin typeface="Calibri"/>
                <a:ea typeface="Calibri"/>
                <a:cs typeface="Calibri"/>
                <a:sym typeface="Calibri"/>
              </a:rPr>
              <a:t>Respiración funcional 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4937760" y="137160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CO2 estable → células reciben O2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vasos se abren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nervio vago se activa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corazón se regula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mente se aclara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diafragma sostiene postura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914400" y="3566160"/>
            <a:ext cx="7315200" cy="118872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1097280" y="3657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Respiración funcional = nasal + lenta + diafragmática + silenciosa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1097280" y="420624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47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474"/>
                </a:solidFill>
                <a:latin typeface="Calibri"/>
                <a:ea typeface="Calibri"/>
                <a:cs typeface="Calibri"/>
                <a:sym typeface="Calibri"/>
              </a:rPr>
              <a:t>Es el mismo fenómeno. Visto desde tres ángulos.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18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Re-diagnóstico: BOLT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57200" y="1097280"/>
            <a:ext cx="5029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640080" y="1188720"/>
            <a:ext cx="46634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Procedimiento (igual que Clase 1):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Inhalación normal → Exhalación normal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Taparse nariz + cronómetro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Hasta PRIMERA señal del cuerpo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5760720" y="1097280"/>
            <a:ext cx="2926080" cy="182880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5760720" y="109728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Compará con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tu resultado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de la Clase 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Observamos → Comprendimos → Intervinimos → Medimos si hubo cambio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Aunque mejoró solo 2-3 segundos, es significativo.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 semana es el inicio. Cambios profundos: 4-8 semanas de práctica sostenida.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19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Tu plan de acción personal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548640" y="1051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280160" y="100584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Mi patrón actual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4480560" y="1005840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Resumen en una línea de cómo respirás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1280160" y="196596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Mi área de mayor oportunidad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4480560" y="1965960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¿Bioquímica? ¿Biomecánica? ¿Psicofisiológica?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1280160" y="292608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Mi práctica diaria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4480560" y="2926080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 ejercicio que vas a sostener 2 semanas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1280160" y="388620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Mi compromiso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4480560" y="3886200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¿Cuándo? ¿Cuántos minutos?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20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A34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A5A3A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0" i="1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"Elegir cómo respirar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0" i="1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es elegir cómo quiero vivir."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21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A34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4A5A3A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4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Próximos pasos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731520" y="1371600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Sostener tu práctica diaria elegida durante 2 semanas mínimo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Re-medir BOLT cada 7 días para ver progreso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Observar tu respiración en la vida cotidiana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Para seguir profundizando: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Programa individual de 5 sesiones — plan personalizado según tu diagnóstico y objetivos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474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8FA474"/>
                </a:solidFill>
                <a:latin typeface="Georgia"/>
                <a:ea typeface="Georgia"/>
                <a:cs typeface="Georgia"/>
                <a:sym typeface="Georgia"/>
              </a:rPr>
              <a:t>Gracias por estar. Cuiden su respiración.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22 / 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1391</Words>
  <Application>Microsoft Macintosh PowerPoint</Application>
  <PresentationFormat>Presentación en pantalla (16:9)</PresentationFormat>
  <Paragraphs>306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2</cp:revision>
  <dcterms:modified xsi:type="dcterms:W3CDTF">2026-05-18T17:28:06Z</dcterms:modified>
</cp:coreProperties>
</file>